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8229600" cy="2286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⚛  PROJECT PHOTON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84C"/>
                </a:solidFill>
                <a:latin typeface="Calibri"/>
              </a:rPr>
              <a:t>Hybrid Quantum-Classical Payment Routing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8099"/>
                </a:solidFill>
                <a:latin typeface="Calibri"/>
              </a:rPr>
              <a:t>Decision Intelligence Cockpit  ·  Tier-1 Banking Innovation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02920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ACC"/>
                </a:solidFill>
                <a:latin typeface="Calibri"/>
              </a:rPr>
              <a:t>1.58-bit BitNet LLM  →  IBM Qiskit EstimatorQNN  →  Optimal 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280160"/>
            <a:ext cx="1645920" cy="1188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41731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Calibri"/>
              </a:rPr>
              <a:t>3.32B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385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BitNet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280160"/>
            <a:ext cx="1645920" cy="1188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9" y="141731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Calibri"/>
              </a:rPr>
              <a:t>4-Qubit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19385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IBM QNN Circuit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1645920" cy="1188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889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Calibri"/>
              </a:rPr>
              <a:t>O(log 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3101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Quantum Complexity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2651760"/>
            <a:ext cx="1645920" cy="1188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9" y="27889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Calibri"/>
              </a:rPr>
              <a:t>&lt; 1s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3101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Routing 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INTERNAL USE ONLY  ·  PROJECT PHOTON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5A5A"/>
                </a:solidFill>
                <a:latin typeface="Calibri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Payment Routing Is a Broken Combinatorial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ACC"/>
                </a:solidFill>
                <a:latin typeface="Calibri"/>
              </a:rPr>
              <a:t>Tier-1 banks route billions of transactions annually across fragmented networks —
classical rule engines evaluate dimensions linearly and miss cross-constraint correlations.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3749039" cy="429768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36576" cy="429768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5A5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AF0"/>
                </a:solidFill>
                <a:latin typeface="Calibri"/>
              </a:rPr>
              <a:t>Linear Models Miss
Correlations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ACC"/>
                </a:solidFill>
                <a:latin typeface="Calibri"/>
              </a:rPr>
              <a:t>Approval, cost, latency and resilience are treated as independent axes. Real routing constraints are deeply entangled — missing these interactions costs banks $50M–$200M annually in suboptimal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874519"/>
            <a:ext cx="3749039" cy="429768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874519"/>
            <a:ext cx="36576" cy="4297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90D9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AF0"/>
                </a:solidFill>
                <a:latin typeface="Calibri"/>
              </a:rPr>
              <a:t>Exponential Complexity
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2004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ACC"/>
                </a:solidFill>
                <a:latin typeface="Calibri"/>
              </a:rPr>
              <a:t>Classical exhaustive evaluation scales O(N). As route options grow from 4 to 50+, real-time optimization becomes infeasible. Every new route multiplies evaluation cost linearly.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74519"/>
            <a:ext cx="3749039" cy="429768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74519"/>
            <a:ext cx="36576" cy="429768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FCF97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AF0"/>
                </a:solidFill>
                <a:latin typeface="Calibri"/>
              </a:rPr>
              <a:t>Static Rules Can't
Read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004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ACC"/>
                </a:solidFill>
                <a:latin typeface="Calibri"/>
              </a:rPr>
              <a:t>Hard-coded routing rules cannot infer semantic intent from transaction context. A $2.4M cross-border settlement and a $12K RTP payment need fundamentally different priority models.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solidFill>
            <a:srgbClr val="1A0808"/>
          </a:solidFill>
          <a:ln w="6350">
            <a:solidFill>
              <a:srgbClr val="E5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AAA"/>
                </a:solidFill>
                <a:latin typeface="Calibri"/>
              </a:rPr>
              <a:t>💸  Industry estimate: Suboptimal payment routing costs Tier-1 institutions $50M–$200M annually in declined revenue, excess processing fees, and failed cross-border settlements.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84C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Continuous Hybrid Pipeline: 1.58-bit AI  →  IBM Quantum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920240" cy="2926080"/>
          </a:xfrm>
          <a:prstGeom prst="rect">
            <a:avLst/>
          </a:prstGeom>
          <a:solidFill>
            <a:srgbClr val="161A26"/>
          </a:solidFill>
          <a:ln w="9525">
            <a:solidFill>
              <a:srgbClr val="353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920240" cy="54864"/>
          </a:xfrm>
          <a:prstGeom prst="rect">
            <a:avLst/>
          </a:prstGeom>
          <a:solidFill>
            <a:srgbClr val="A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A0AACC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AF0"/>
                </a:solidFill>
                <a:latin typeface="Calibri"/>
              </a:rPr>
              <a:t>Payment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Natural language
context +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52B3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1234440"/>
            <a:ext cx="1920240" cy="2926080"/>
          </a:xfrm>
          <a:prstGeom prst="rect">
            <a:avLst/>
          </a:prstGeom>
          <a:solidFill>
            <a:srgbClr val="161A26"/>
          </a:solidFill>
          <a:ln w="9525">
            <a:solidFill>
              <a:srgbClr val="18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2304" y="1234440"/>
            <a:ext cx="192024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8024" y="1417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4A90D9"/>
                </a:solidFill>
                <a:latin typeface="Calibri"/>
              </a:rP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024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AF0"/>
                </a:solidFill>
                <a:latin typeface="Calibri"/>
              </a:rPr>
              <a:t>BitNet 1.58-bit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8024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3.32B params
CPU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52B3E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0288" y="1234440"/>
            <a:ext cx="1920240" cy="2926080"/>
          </a:xfrm>
          <a:prstGeom prst="rect">
            <a:avLst/>
          </a:prstGeom>
          <a:solidFill>
            <a:srgbClr val="161A26"/>
          </a:solidFill>
          <a:ln w="9525">
            <a:solidFill>
              <a:srgbClr val="433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0288" y="1234440"/>
            <a:ext cx="192024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1417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  <a:latin typeface="Calibri"/>
              </a:rPr>
              <a:t>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9A84C"/>
                </a:solidFill>
                <a:latin typeface="Calibri"/>
              </a:rPr>
              <a:t>COMPRESSION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AF0"/>
                </a:solidFill>
                <a:latin typeface="Calibri"/>
              </a:rPr>
              <a:t>nn.Linear Reducer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3200-dim → 4-dim
sigmoid [0,1]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52B3E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272" y="1234440"/>
            <a:ext cx="1920240" cy="2926080"/>
          </a:xfrm>
          <a:prstGeom prst="rect">
            <a:avLst/>
          </a:prstGeom>
          <a:solidFill>
            <a:srgbClr val="161A26"/>
          </a:solidFill>
          <a:ln w="9525">
            <a:solidFill>
              <a:srgbClr val="3E2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48272" y="1234440"/>
            <a:ext cx="1920240" cy="54864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1417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  <a:latin typeface="Calibri"/>
              </a:rPr>
              <a:t>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BB6BD9"/>
                </a:solidFill>
                <a:latin typeface="Calibri"/>
              </a:rPr>
              <a:t>QUANTUM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AF0"/>
                </a:solidFill>
                <a:latin typeface="Calibri"/>
              </a:rPr>
              <a:t>IBM EstimatorQNN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4-qubit circuit
angle encoding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52B3E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06256" y="1234440"/>
            <a:ext cx="1920240" cy="2926080"/>
          </a:xfrm>
          <a:prstGeom prst="rect">
            <a:avLst/>
          </a:prstGeom>
          <a:solidFill>
            <a:srgbClr val="161A26"/>
          </a:solidFill>
          <a:ln w="9525">
            <a:solidFill>
              <a:srgbClr val="254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06256" y="1234440"/>
            <a:ext cx="1920240" cy="54864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1976" y="1417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8EAF0"/>
                </a:solidFill>
                <a:latin typeface="Calibri"/>
              </a:rPr>
              <a:t>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1976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6FCF97"/>
                </a:solidFill>
                <a:latin typeface="Calibri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2240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AF0"/>
                </a:solidFill>
                <a:latin typeface="Calibri"/>
              </a:rPr>
              <a:t>Photon Match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1976" y="2697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099"/>
                </a:solidFill>
                <a:latin typeface="Calibri"/>
              </a:rPr>
              <a:t>Ranked routes
0 – 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612880" cy="914400"/>
          </a:xfrm>
          <a:prstGeom prst="rect">
            <a:avLst/>
          </a:prstGeom>
          <a:solidFill>
            <a:srgbClr val="0C0F1A"/>
          </a:solidFill>
          <a:ln w="6350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84C"/>
                </a:solidFill>
                <a:latin typeface="Calibri"/>
              </a:rPr>
              <a:t>How It 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2744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The payment scenario is passed as natural language into the BitNet 1.58-bit LLM. The model performs a forward pass and the final token's hidden state (3200-dim) is extracted and compressed to 4 dimensions via a fixed nn.Linear projection. This 4-D tensor is angle-encoded into a parameterized 4-qubit Qiskit QuantumCircuit (RY gates + CNOT entanglement ring + variational block). IBM's EstimatorQNN measures Pauli-Z expectation values per qubit, producing quantum-informed route scores that are blended with classical priority-alignment scoring into the final Photon Match Score.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49240"/>
            <a:ext cx="2834640" cy="9144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5349240"/>
            <a:ext cx="36576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79" y="54132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A90D9"/>
                </a:solidFill>
                <a:latin typeface="Calibri"/>
              </a:rPr>
              <a:t>Layer 1 — Angle Encoding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5687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RY(xᵢ · π)  per qubit
Maps intent tensor to quantum state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55263" y="5349240"/>
            <a:ext cx="2834640" cy="9144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55263" y="5349240"/>
            <a:ext cx="36576" cy="914400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92423" y="54132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B6BD9"/>
                </a:solidFill>
                <a:latin typeface="Calibri"/>
              </a:rPr>
              <a:t>Layer 2 — Entanglement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2423" y="5687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Circular CNOT ring
Captures cross-route correlations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7" y="5349240"/>
            <a:ext cx="2834640" cy="9144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6207" y="5349240"/>
            <a:ext cx="36576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54132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9A84C"/>
                </a:solidFill>
                <a:latin typeface="Calibri"/>
              </a:rPr>
              <a:t>Layer 3 — Variational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3368" y="5687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Trainable RY(θᵢ) rotations
Learns from routing outcomes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2" y="5349240"/>
            <a:ext cx="2834640" cy="9144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17152" y="5349240"/>
            <a:ext cx="36576" cy="91440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54312" y="54132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FCF97"/>
                </a:solidFill>
                <a:latin typeface="Calibri"/>
              </a:rPr>
              <a:t>Measurement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4312" y="568756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Pauli-Z per qubit
Expectation values → route scores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6BD9"/>
                </a:solidFill>
                <a:latin typeface="Calibri"/>
              </a:rPr>
              <a:t>QUANTUM 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the Quantum Layer Changes 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94960" cy="4114800"/>
          </a:xfrm>
          <a:prstGeom prst="rect">
            <a:avLst/>
          </a:prstGeom>
          <a:solidFill>
            <a:srgbClr val="0D1A2A"/>
          </a:solidFill>
          <a:ln w="9525">
            <a:solidFill>
              <a:srgbClr val="1F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94960" cy="292608"/>
          </a:xfrm>
          <a:prstGeom prst="rect">
            <a:avLst/>
          </a:prstGeom>
          <a:solidFill>
            <a:srgbClr val="1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A90D9"/>
                </a:solidFill>
                <a:latin typeface="Calibri"/>
              </a:rPr>
              <a:t>CLASSICAL ROUTING  ·  Priority-Weighted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27632"/>
            <a:ext cx="5303520" cy="713232"/>
          </a:xfrm>
          <a:prstGeom prst="rect">
            <a:avLst/>
          </a:prstGeom>
          <a:solidFill>
            <a:srgbClr val="1A1402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0"/>
                </a:solidFill>
                <a:latin typeface="Calibri"/>
              </a:rPr>
              <a:t>Direct Issuer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208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9A84C"/>
                </a:solidFill>
                <a:latin typeface="Calibri"/>
              </a:rPr>
              <a:t>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6479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90.7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633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237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AF0"/>
                </a:solidFill>
                <a:latin typeface="Calibri"/>
              </a:rPr>
              <a:t>Network Alpha (Visa+)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8254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A90D9"/>
                </a:solidFill>
                <a:latin typeface="Calibri"/>
              </a:rPr>
              <a:t>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6946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88.5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4381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284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AF0"/>
                </a:solidFill>
                <a:latin typeface="Calibri"/>
              </a:rPr>
              <a:t>Least-Cost Processor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30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FCF97"/>
                </a:solidFill>
                <a:latin typeface="Calibri"/>
              </a:rPr>
              <a:t>ECONOMY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7413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84.5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4281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13308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AF0"/>
                </a:solidFill>
                <a:latin typeface="Calibri"/>
              </a:rPr>
              <a:t>Resilient Fallback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434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B6BD9"/>
                </a:solidFill>
                <a:latin typeface="Calibri"/>
              </a:rPr>
              <a:t>RESILIENT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17880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84.2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376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607A"/>
                </a:solidFill>
                <a:latin typeface="Calibri"/>
              </a:rPr>
              <a:t>Linear dot-product scoring. No cross-dimensional correlation modelling.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188720"/>
            <a:ext cx="5943600" cy="4114800"/>
          </a:xfrm>
          <a:prstGeom prst="rect">
            <a:avLst/>
          </a:prstGeom>
          <a:solidFill>
            <a:srgbClr val="0A1A14"/>
          </a:solidFill>
          <a:ln w="9525">
            <a:solidFill>
              <a:srgbClr val="1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188720"/>
            <a:ext cx="5943600" cy="292608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234440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FCF97"/>
                </a:solidFill>
                <a:latin typeface="Calibri"/>
              </a:rPr>
              <a:t>⚛  QUANTUM-ENHANCED  ·  Hybrid Photon 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627632"/>
            <a:ext cx="5833872" cy="713232"/>
          </a:xfrm>
          <a:prstGeom prst="rect">
            <a:avLst/>
          </a:prstGeom>
          <a:solidFill>
            <a:srgbClr val="0A1A08"/>
          </a:solidFill>
          <a:ln w="9525">
            <a:solidFill>
              <a:srgbClr val="6FC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1828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19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0"/>
                </a:solidFill>
                <a:latin typeface="Calibri"/>
              </a:rPr>
              <a:t>Direct Issuer 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208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9A84C"/>
                </a:solidFill>
                <a:latin typeface="Calibri"/>
              </a:rPr>
              <a:t>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CF97"/>
                </a:solidFill>
                <a:latin typeface="Calibri"/>
              </a:rPr>
              <a:t>QNN +8.4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1828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FCF97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176479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6FCF97"/>
                </a:solidFill>
                <a:latin typeface="Calibri"/>
              </a:rPr>
              <a:t>93.4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2633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523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AF0"/>
                </a:solidFill>
                <a:latin typeface="Calibri"/>
              </a:rPr>
              <a:t>Least-Cost 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8254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FCF97"/>
                </a:solidFill>
                <a:latin typeface="Calibri"/>
              </a:rPr>
              <a:t>ECONOMY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5420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CF97"/>
                </a:solidFill>
                <a:latin typeface="Calibri"/>
              </a:rPr>
              <a:t>QNN +3.4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26334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FCF97"/>
                </a:solidFill>
                <a:latin typeface="Calibri"/>
              </a:rPr>
              <a:t>▲1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2569464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87.9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34381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3284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AF0"/>
                </a:solidFill>
                <a:latin typeface="Calibri"/>
              </a:rPr>
              <a:t>Network Alpha (Visa+)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6301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A90D9"/>
                </a:solidFill>
                <a:latin typeface="Calibri"/>
              </a:rPr>
              <a:t>STANDARD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33467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55A5A"/>
                </a:solidFill>
                <a:latin typeface="Calibri"/>
              </a:rPr>
              <a:t>QNN −6.4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34381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5A5A"/>
                </a:solidFill>
                <a:latin typeface="Calibri"/>
              </a:rPr>
              <a:t>▼1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337413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82.1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24281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8099"/>
                </a:solidFill>
                <a:latin typeface="Calibri"/>
              </a:rPr>
              <a:t>#4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13308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AF0"/>
                </a:solidFill>
                <a:latin typeface="Calibri"/>
              </a:rPr>
              <a:t>Resilient Fallback Network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434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B6BD9"/>
                </a:solidFill>
                <a:latin typeface="Calibri"/>
              </a:rPr>
              <a:t>RESILIENT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4151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55A5A"/>
                </a:solidFill>
                <a:latin typeface="Calibri"/>
              </a:rPr>
              <a:t>QNN −7.4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42428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5A5A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417880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0AACC"/>
                </a:solidFill>
                <a:latin typeface="Calibri"/>
              </a:rPr>
              <a:t>76.8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53766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607A"/>
                </a:solidFill>
                <a:latin typeface="Calibri"/>
              </a:rPr>
              <a:t>30% QNN expectation values + 70% classical alignment. Quantum entanglement captures non-linear priority interactions.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806440"/>
            <a:ext cx="11612880" cy="548640"/>
          </a:xfrm>
          <a:prstGeom prst="rect">
            <a:avLst/>
          </a:prstGeom>
          <a:solidFill>
            <a:srgbClr val="0C0F1A"/>
          </a:solidFill>
          <a:ln w="9525">
            <a:solidFill>
              <a:srgbClr val="6FC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5806440"/>
            <a:ext cx="36576" cy="54864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87044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⚛  Quantum Edge: The IBM EstimatorQNN detected cross-priority entanglement patterns that classical linear scoring cannot model — reshuffling the secondary tier and amplifying confidence in the primary route through superposition-based expectation measurement.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6BD9"/>
                </a:solidFill>
                <a:latin typeface="Calibri"/>
              </a:rPr>
              <a:t>WHY QUANTUM WINS AT ENTERPRISE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O(log N) Quantum vs O(N) Classical — The Exponential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1828800"/>
          </a:xfrm>
          <a:prstGeom prst="rect">
            <a:avLst/>
          </a:prstGeom>
          <a:solidFill>
            <a:srgbClr val="0A0C12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5A5A"/>
                </a:solidFill>
                <a:latin typeface="Calibri"/>
              </a:rPr>
              <a:t>Classical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55A5A"/>
                </a:solidFill>
                <a:latin typeface="Calibri"/>
              </a:rPr>
              <a:t>O(N)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Each new route = one new evaluation pass.
Linear scaling makes real-time optimization
infeasible beyond 20–30 routes.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188720"/>
            <a:ext cx="5943600" cy="1828800"/>
          </a:xfrm>
          <a:prstGeom prst="rect">
            <a:avLst/>
          </a:prstGeom>
          <a:solidFill>
            <a:srgbClr val="0A140A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CF97"/>
                </a:solidFill>
                <a:latin typeface="Calibri"/>
              </a:rPr>
              <a:t>Quantum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276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FCF97"/>
                </a:solidFill>
                <a:latin typeface="Calibri"/>
              </a:rPr>
              <a:t>O(log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6771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One additional qubit doubles the state space
explored simultaneously via superposition.
Exponential advantage at enterprise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1612880" cy="292608"/>
          </a:xfrm>
          <a:prstGeom prst="rect">
            <a:avLst/>
          </a:prstGeom>
          <a:solidFill>
            <a:srgbClr val="16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26440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A8099"/>
                </a:solidFill>
                <a:latin typeface="Calibri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264408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A8099"/>
                </a:solidFill>
                <a:latin typeface="Calibri"/>
              </a:rPr>
              <a:t>Qubits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3264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55A5A"/>
                </a:solidFill>
                <a:latin typeface="Calibri"/>
              </a:rPr>
              <a:t>Classical Evaluations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3264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FCF97"/>
                </a:solidFill>
                <a:latin typeface="Calibri"/>
              </a:rPr>
              <a:t>Quantum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326440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A8099"/>
                </a:solidFill>
                <a:latin typeface="Calibri"/>
              </a:rPr>
              <a:t>Payment Use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93008"/>
            <a:ext cx="11612880" cy="365760"/>
          </a:xfrm>
          <a:prstGeom prst="rect">
            <a:avLst/>
          </a:prstGeom>
          <a:solidFill>
            <a:srgbClr val="1A14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584448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84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3584448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84C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2" y="3584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84C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584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84C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5844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84C"/>
                </a:solidFill>
                <a:latin typeface="Calibri"/>
              </a:rPr>
              <a:t>Proof-of-concept  (this demo)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19" y="35844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C9A84C"/>
                </a:solidFill>
                <a:latin typeface="Calibri"/>
              </a:rPr>
              <a:t>◄ THIS DEMO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77056"/>
            <a:ext cx="11612880" cy="36576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968496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68496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396849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55A5A"/>
                </a:solidFill>
                <a:latin typeface="Calibri"/>
              </a:rPr>
              <a:t>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96849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CF97"/>
                </a:solidFill>
                <a:latin typeface="Calibri"/>
              </a:rPr>
              <a:t>256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39684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Regional corridor routing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61104"/>
            <a:ext cx="11612880" cy="365760"/>
          </a:xfrm>
          <a:prstGeom prst="rect">
            <a:avLst/>
          </a:prstGeom>
          <a:solidFill>
            <a:srgbClr val="16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352544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36192" y="4352544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4352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55A5A"/>
                </a:solidFill>
                <a:latin typeface="Calibri"/>
              </a:rPr>
              <a:t>65,536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4352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CF97"/>
                </a:solidFill>
                <a:latin typeface="Calibri"/>
              </a:rPr>
              <a:t>65,536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435254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National payment 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45152"/>
            <a:ext cx="11612880" cy="36576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736592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6192" y="4736592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47365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55A5A"/>
                </a:solidFill>
                <a:latin typeface="Calibri"/>
              </a:rPr>
              <a:t>1,048,576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47365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CF97"/>
                </a:solidFill>
                <a:latin typeface="Calibri"/>
              </a:rPr>
              <a:t>1,048,576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47365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Cross-border treasury desk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029200"/>
            <a:ext cx="11612880" cy="365760"/>
          </a:xfrm>
          <a:prstGeom prst="rect">
            <a:avLst/>
          </a:prstGeom>
          <a:solidFill>
            <a:srgbClr val="16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512064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512064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5120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55A5A"/>
                </a:solidFill>
                <a:latin typeface="Calibri"/>
              </a:rPr>
              <a:t>1.1 × 10¹⁵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10912" y="5120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CF97"/>
                </a:solidFill>
                <a:latin typeface="Calibri"/>
              </a:rPr>
              <a:t>1.1 × 10¹⁵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96912" y="51206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Global real-time settlement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413248"/>
            <a:ext cx="11612880" cy="365760"/>
          </a:xfrm>
          <a:prstGeom prst="rect">
            <a:avLst/>
          </a:prstGeom>
          <a:solidFill>
            <a:srgbClr val="0D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5504688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36192" y="5504688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AF0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4912" y="5504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55A5A"/>
                </a:solidFill>
                <a:latin typeface="Calibri"/>
              </a:rPr>
              <a:t>1.3 × 10³⁰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10912" y="5504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CF97"/>
                </a:solidFill>
                <a:latin typeface="Calibri"/>
              </a:rPr>
              <a:t>1.3 × 10³⁰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96912" y="550468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Full interbank network mesh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099"/>
                </a:solidFill>
                <a:latin typeface="Calibri"/>
              </a:rPr>
              <a:t>One additional qubit doubles the state space — adding qubit 5 takes the system from 16 to 32 evaluated states simultaneously. Classical routers must add an entire new evaluation loop. This is the fundamental economic argument for quantum-native payment infrastructure.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FCF97"/>
                </a:solidFill>
                <a:latin typeface="Calibri"/>
              </a:rPr>
              <a:t>BUSINESS VALUE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Measurable Impact Across Three Value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493776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749039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EAF0"/>
                </a:solidFill>
                <a:latin typeface="Calibri"/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84C"/>
                </a:solidFill>
                <a:latin typeface="Calibri"/>
              </a:rPr>
              <a:t>Revenue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Approval Rate 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578608"/>
            <a:ext cx="347472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6517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9A84C"/>
                </a:solidFill>
                <a:latin typeface="Calibri"/>
              </a:rPr>
              <a:t>$100M+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2461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099"/>
                </a:solidFill>
                <a:latin typeface="Calibri"/>
              </a:rPr>
              <a:t>Recovered on $10B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3547872"/>
            <a:ext cx="347472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21024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A 1% improvement in approval rate on $10B annual transaction volume directly recovers previously declined revenue. Quantum entanglement identifies approval-correlated routing paths that classical linear scoring systematically undervalues across high-risk and cross-border flows.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234440"/>
            <a:ext cx="3749039" cy="493776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234440"/>
            <a:ext cx="3749039" cy="4572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EAF0"/>
                </a:solidFill>
                <a:latin typeface="Calibri"/>
              </a:rP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FCF97"/>
                </a:solidFill>
                <a:latin typeface="Calibri"/>
              </a:rPr>
              <a:t>Cost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Processing Fee Optimization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578608"/>
            <a:ext cx="347472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6517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FCF97"/>
                </a:solidFill>
                <a:latin typeface="Calibri"/>
              </a:rPr>
              <a:t>15–30%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2461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099"/>
                </a:solidFill>
                <a:latin typeface="Calibri"/>
              </a:rPr>
              <a:t>Reduction in per-transaction fees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547872"/>
            <a:ext cx="347472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621024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Multi-dimensional route scoring simultaneously minimises basis-point costs without sacrificing approval rates or resilience scores. Greatest impact on domestic and regional corridors with competitive route availability — achievable in Phase 2 shadow mode deployment.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234440"/>
            <a:ext cx="3749039" cy="493776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234440"/>
            <a:ext cx="3749039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EAF0"/>
                </a:solidFill>
                <a:latin typeface="Calibri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90D9"/>
                </a:solidFill>
                <a:latin typeface="Calibri"/>
              </a:rPr>
              <a:t>Operational Resilience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Proactive Failover Intelligence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578608"/>
            <a:ext cx="347472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6517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A90D9"/>
                </a:solidFill>
                <a:latin typeface="Calibri"/>
              </a:rPr>
              <a:t>Zero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2461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099"/>
                </a:solidFill>
                <a:latin typeface="Calibri"/>
              </a:rPr>
              <a:t>Unexpected SLA breaches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547872"/>
            <a:ext cx="347472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621024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The QNN models network resilience as a quantum observable — enabling proactive failover routing before degradation occurs, not after. Reduces settlement failures, chargeback exposure, and contractual SLA breaches on high-risk merchant and cross-border payment flows.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263640"/>
            <a:ext cx="11612880" cy="502920"/>
          </a:xfrm>
          <a:prstGeom prst="rect">
            <a:avLst/>
          </a:prstGeom>
          <a:solidFill>
            <a:srgbClr val="0C0F1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6263640"/>
            <a:ext cx="36576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31850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Executive Summary:  Project Photon positions the institution as a first-mover in quantum-native payment infrastructure — targeting $100M+ in annual approval-rate revenue recovery with a phased deployment path from proof-of-concept to full IBM QPU production within 12 months.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6BD9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Purpose-Built for Enterprise AI + Quantum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2331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45720" cy="2331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BitNet b1.58-3B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367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A90D9"/>
                </a:solidFill>
                <a:latin typeface="Calibri"/>
              </a:rPr>
              <a:t>Classical AI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56232"/>
            <a:ext cx="33832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Microsoft / 1bitLLM · 3.32B parameters
Native 1.58-bit ternary weights {−1, 0, +1}
Zero floating-point multiplications
8× smaller memory than fp16 equivalent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34440"/>
            <a:ext cx="3749039" cy="2331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45720" cy="2331720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441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IBM Qiskit EstimatorQNN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367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B6BD9"/>
                </a:solidFill>
                <a:latin typeface="Calibri"/>
              </a:rPr>
              <a:t>Quantum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856232"/>
            <a:ext cx="33832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929384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4-qubit parameterized QuantumCircuit
Angle encoding + CNOT entanglement ring
Pauli-Z expectation measurement per qubit
IBM QPU-ready (currently Qiskit-Aer)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2331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45720" cy="2331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3441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TorchConnector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6367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9A84C"/>
                </a:solidFill>
                <a:latin typeface="Calibri"/>
              </a:rPr>
              <a:t>Hybrid Bridge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856232"/>
            <a:ext cx="33832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929384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Wraps QNN as native PyTorch nn.Module
End-to-end differentiable pipeline
Gradient-based QNN training support
Seamless MPS / CPU device handoff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3749039" cy="2331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45720" cy="233172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PyTorch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513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FCF97"/>
                </a:solidFill>
                <a:latin typeface="Calibri"/>
              </a:rPr>
              <a:t>Tensor 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70831"/>
            <a:ext cx="33832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43983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nn.Linear: 3200-dim → 4-dim reducer
Xavier-uniform initialization
Sigmoid normalization to [0,1]
Apple Silicon MPS acceleration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3749039"/>
            <a:ext cx="3749039" cy="2331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3749039"/>
            <a:ext cx="45720" cy="233172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858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HuggingFace Transformers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1513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55A5A"/>
                </a:solidFill>
                <a:latin typeface="Calibri"/>
              </a:rPr>
              <a:t>Model Loading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370831"/>
            <a:ext cx="33832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443983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AutoModelForCausalLM + trust_remote_code
low_cpu_mem_usage shard streaming
LlamaTokenizer fallback for BitNet vocab
HF mirror endpoint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749039"/>
            <a:ext cx="3749039" cy="2331720"/>
          </a:xfrm>
          <a:prstGeom prst="rect">
            <a:avLst/>
          </a:prstGeom>
          <a:solidFill>
            <a:srgbClr val="161A26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749039"/>
            <a:ext cx="45720" cy="2331720"/>
          </a:xfrm>
          <a:prstGeom prst="rect">
            <a:avLst/>
          </a:prstGeom>
          <a:solidFill>
            <a:srgbClr val="A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858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AF0"/>
                </a:solidFill>
                <a:latin typeface="Calibri"/>
              </a:rPr>
              <a:t>Streamlit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15137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A0AACC"/>
                </a:solidFill>
                <a:latin typeface="Calibri"/>
              </a:rPr>
              <a:t>Executive UI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4370831"/>
            <a:ext cx="33832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443983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ACC"/>
                </a:solidFill>
                <a:latin typeface="Calibri"/>
              </a:rPr>
              <a:t>st.cache_resource model caching
st.status live pipeline progress
Premium dark-mode CSS theme
Multi-page navigation (Overview + App)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84C"/>
                </a:solidFill>
                <a:latin typeface="Calibri"/>
              </a:rPr>
              <a:t>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Proof-of-Concept to Production Quantum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12880" cy="5486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1325880"/>
            <a:ext cx="256032" cy="2560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2834640" cy="45720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283464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83080"/>
            <a:ext cx="2615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A90D9"/>
                </a:solidFill>
                <a:latin typeface="Calibri"/>
              </a:rPr>
              <a:t>✓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11680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21284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  <a:latin typeface="Calibri"/>
              </a:rPr>
              <a:t>Proof of Concept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651760"/>
            <a:ext cx="2615184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43200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1.58-bit BitNet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218688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IBM Qiskit QNN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94176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Hybrid scoring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169664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Executive dashboard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645152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GitHub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1325880"/>
            <a:ext cx="256032" cy="256032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55263" y="1691640"/>
            <a:ext cx="2834640" cy="45720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55263" y="1691640"/>
            <a:ext cx="2834640" cy="4572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1" y="1783080"/>
            <a:ext cx="2615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FCF97"/>
                </a:solidFill>
                <a:latin typeface="Calibri"/>
              </a:rPr>
              <a:t>NEXT — Q2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1" y="2011680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1" y="221284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  <a:latin typeface="Calibri"/>
              </a:rPr>
              <a:t>Training &amp;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4991" y="2651760"/>
            <a:ext cx="2615184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1" y="2743200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QNN training on historical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1" y="3218688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A/B vs. production router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3694176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8-qubit / 16-route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1" y="4169664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Risk-adjusted scoring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1325880"/>
            <a:ext cx="256032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7" y="1691640"/>
            <a:ext cx="2834640" cy="45720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7" y="1691640"/>
            <a:ext cx="28346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1783080"/>
            <a:ext cx="2615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9A84C"/>
                </a:solidFill>
                <a:latin typeface="Calibri"/>
              </a:rPr>
              <a:t>6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011680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221284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  <a:latin typeface="Calibri"/>
              </a:rPr>
              <a:t>Enterprise Integration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2651760"/>
            <a:ext cx="2615184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2743200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Payment gateway API wrapper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3218688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Real-time transaction 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3694176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Compliance &amp; audit 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169664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Shadow mode deployment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88752" y="1325880"/>
            <a:ext cx="256032" cy="256032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17152" y="1691640"/>
            <a:ext cx="2834640" cy="4572000"/>
          </a:xfrm>
          <a:prstGeom prst="rect">
            <a:avLst/>
          </a:prstGeom>
          <a:solidFill>
            <a:srgbClr val="0D0F14"/>
          </a:solidFill>
          <a:ln w="9525">
            <a:solidFill>
              <a:srgbClr val="25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17152" y="1691640"/>
            <a:ext cx="2834640" cy="45720"/>
          </a:xfrm>
          <a:prstGeom prst="rect">
            <a:avLst/>
          </a:prstGeom>
          <a:solidFill>
            <a:srgbClr val="BB6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1783080"/>
            <a:ext cx="26151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BB6BD9"/>
                </a:solidFill>
                <a:latin typeface="Calibri"/>
              </a:rPr>
              <a:t>12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011680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099"/>
                </a:solidFill>
                <a:latin typeface="Calibri"/>
              </a:rPr>
              <a:t>Phase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21284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0"/>
                </a:solidFill>
                <a:latin typeface="Calibri"/>
              </a:rPr>
              <a:t>IBM Quantum Cloud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2651760"/>
            <a:ext cx="2615184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2743200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IBM QPU hardware execution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218688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20+ qubit circuit expansion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694176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1M+ route state 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169664"/>
            <a:ext cx="26151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→  Full production rollout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400800"/>
            <a:ext cx="11612880" cy="438912"/>
          </a:xfrm>
          <a:prstGeom prst="rect">
            <a:avLst/>
          </a:prstGeom>
          <a:solidFill>
            <a:srgbClr val="0C0F1A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6400800"/>
            <a:ext cx="36576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AACC"/>
                </a:solidFill>
                <a:latin typeface="Calibri"/>
              </a:rPr>
              <a:t>Investment Ask: Approve Phase 2 funding to begin QNN training on 12 months of historical routing data and initiate shadow mode deployment alongside the production router — validating ROI before full cutover.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76288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0" y="6949440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PROJECT PHOTON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784848"/>
          </a:xfrm>
          <a:prstGeom prst="rect">
            <a:avLst/>
          </a:prstGeom>
          <a:solidFill>
            <a:srgbClr val="1A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0C0F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45752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508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>
                <a:solidFill>
                  <a:srgbClr val="C9A84C"/>
                </a:solidFill>
                <a:latin typeface="Calibri"/>
              </a:rPr>
              <a:t>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9079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Project Photon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9079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84C"/>
                </a:solidFill>
                <a:latin typeface="Calibri"/>
              </a:rPr>
              <a:t>The future of payment routing is hybrid, quantum-native, and available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429000"/>
            <a:ext cx="6702552" cy="9144"/>
          </a:xfrm>
          <a:prstGeom prst="rect">
            <a:avLst/>
          </a:prstGeom>
          <a:solidFill>
            <a:srgbClr val="2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547872"/>
            <a:ext cx="9079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ACC"/>
                </a:solidFill>
                <a:latin typeface="Calibri"/>
              </a:rPr>
              <a:t>1.58-bit BitNet LLM  ·  IBM Qiskit EstimatorQNN  ·  Hybrid Photon Score
github.com/suman-hacks/ProjectPhoton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773168"/>
            <a:ext cx="2834640" cy="457200"/>
          </a:xfrm>
          <a:prstGeom prst="rect">
            <a:avLst/>
          </a:prstGeom>
          <a:solidFill>
            <a:srgbClr val="211C0C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4855464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Approve Phase 2 Funding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4773168"/>
            <a:ext cx="2834640" cy="457200"/>
          </a:xfrm>
          <a:prstGeom prst="rect">
            <a:avLst/>
          </a:prstGeom>
          <a:solidFill>
            <a:srgbClr val="122219"/>
          </a:solidFill>
          <a:ln w="9525">
            <a:solidFill>
              <a:srgbClr val="6FC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4855464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FCF97"/>
                </a:solidFill>
                <a:latin typeface="Calibri"/>
              </a:rPr>
              <a:t>Schedule Live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4773168"/>
            <a:ext cx="2834640" cy="457200"/>
          </a:xfrm>
          <a:prstGeom prst="rect">
            <a:avLst/>
          </a:prstGeom>
          <a:solidFill>
            <a:srgbClr val="0C1824"/>
          </a:solidFill>
          <a:ln w="9525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4855464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A90D9"/>
                </a:solidFill>
                <a:latin typeface="Calibri"/>
              </a:rPr>
              <a:t>Review GitHub Repository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850"/>
                </a:solidFill>
                <a:latin typeface="Calibri"/>
              </a:rPr>
              <a:t>CONFIDENTIAL  ·  INTERNAL USE ONLY  ·  PROJECT PHOTON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